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ague Spartan" charset="1" panose="00000800000000000000"/>
      <p:regular r:id="rId22"/>
    </p:embeddedFont>
    <p:embeddedFont>
      <p:font typeface="Arimo Bold" charset="1" panose="020B07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94530" y="0"/>
            <a:ext cx="7488628" cy="3431422"/>
          </a:xfrm>
          <a:custGeom>
            <a:avLst/>
            <a:gdLst/>
            <a:ahLst/>
            <a:cxnLst/>
            <a:rect r="r" b="b" t="t" l="l"/>
            <a:pathLst>
              <a:path h="3431422" w="7488628">
                <a:moveTo>
                  <a:pt x="0" y="0"/>
                </a:moveTo>
                <a:lnTo>
                  <a:pt x="7488627" y="0"/>
                </a:lnTo>
                <a:lnTo>
                  <a:pt x="7488627" y="3431422"/>
                </a:lnTo>
                <a:lnTo>
                  <a:pt x="0" y="343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8" t="0" r="-11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0666" y="3489683"/>
            <a:ext cx="16746669" cy="199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4"/>
              </a:lnSpc>
              <a:spcBef>
                <a:spcPct val="0"/>
              </a:spcBef>
            </a:pPr>
            <a:r>
              <a:rPr lang="en-US" b="true" sz="28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FACULTY OF ENGINEERING AND TECHNOLOGY</a:t>
            </a:r>
          </a:p>
          <a:p>
            <a:pPr algn="ctr">
              <a:lnSpc>
                <a:spcPts val="3964"/>
              </a:lnSpc>
              <a:spcBef>
                <a:spcPct val="0"/>
              </a:spcBef>
            </a:pPr>
            <a:r>
              <a:rPr lang="en-US" b="true" sz="28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ELECTRICAL AND COMPUTER ENGINEERING DEPARTMENT</a:t>
            </a:r>
          </a:p>
          <a:p>
            <a:pPr algn="ctr">
              <a:lnSpc>
                <a:spcPts val="3964"/>
              </a:lnSpc>
              <a:spcBef>
                <a:spcPct val="0"/>
              </a:spcBef>
            </a:pPr>
            <a:r>
              <a:rPr lang="en-US" b="true" sz="28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ADVANCED COMPUTER ARCHITECTURE</a:t>
            </a:r>
          </a:p>
          <a:p>
            <a:pPr algn="ctr">
              <a:lnSpc>
                <a:spcPts val="3964"/>
              </a:lnSpc>
              <a:spcBef>
                <a:spcPct val="0"/>
              </a:spcBef>
            </a:pPr>
            <a:r>
              <a:rPr lang="en-US" b="true" sz="28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ENCS5331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5780" y="6910297"/>
            <a:ext cx="15056440" cy="203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Name: Kareem Hamza                                            </a:t>
            </a:r>
            <a:r>
              <a:rPr lang="en-US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ID: 1220708</a:t>
            </a:r>
          </a:p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Name: Noor Battat                                                     </a:t>
            </a:r>
            <a:r>
              <a:rPr lang="en-US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ID: 1210075</a:t>
            </a:r>
          </a:p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Name: Anas Sarabtta                                               </a:t>
            </a:r>
            <a:r>
              <a:rPr lang="en-US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ID: 1200242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5780" y="9339007"/>
            <a:ext cx="4958804" cy="134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b="true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DR. AYMAN HROUB</a:t>
            </a:r>
          </a:p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b="true" sz="38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6069" y="5540358"/>
            <a:ext cx="1777193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PRESENTATION 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7632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NM-RAG: A NEAR-MEMORY COMPUTING ACCELERATOR FOR RETRIEVAL-AUGMENTED GENERATION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13279" y="1470813"/>
            <a:ext cx="13449866" cy="778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10" indent="-340005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  <a:p>
            <a:pPr algn="l">
              <a:lnSpc>
                <a:spcPts val="4409"/>
              </a:lnSpc>
            </a:pPr>
          </a:p>
          <a:p>
            <a:pPr algn="l" marL="680010" indent="-340005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&amp; Motivation</a:t>
            </a:r>
          </a:p>
          <a:p>
            <a:pPr algn="l">
              <a:lnSpc>
                <a:spcPts val="4409"/>
              </a:lnSpc>
            </a:pPr>
          </a:p>
          <a:p>
            <a:pPr algn="l" marL="680010" indent="-340005" lvl="1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Contrib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utions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  <a:p>
            <a:pPr algn="l" marL="680010" indent="-340005" lvl="1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Related Work &amp; Gap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  <a:p>
            <a:pPr algn="l" marL="680010" indent="-340005" lvl="1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 (Arc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hitec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ture + Quantization + Pipel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ne)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  <a:p>
            <a:pPr algn="l" marL="680010" indent="-340005" lvl="1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Experimental Results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  <a:p>
            <a:pPr algn="l" marL="680010" indent="-340005" lvl="1">
              <a:lnSpc>
                <a:spcPts val="4409"/>
              </a:lnSpc>
              <a:buFont typeface="Arial"/>
              <a:buChar char="•"/>
            </a:pP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</a:t>
            </a:r>
            <a:r>
              <a:rPr lang="en-US" b="true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lusion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22417" cy="10287000"/>
          </a:xfrm>
          <a:custGeom>
            <a:avLst/>
            <a:gdLst/>
            <a:ahLst/>
            <a:cxnLst/>
            <a:rect r="r" b="b" t="t" l="l"/>
            <a:pathLst>
              <a:path h="10287000" w="5022417">
                <a:moveTo>
                  <a:pt x="0" y="0"/>
                </a:moveTo>
                <a:lnTo>
                  <a:pt x="5022417" y="0"/>
                </a:lnTo>
                <a:lnTo>
                  <a:pt x="50224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499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3279" y="128588"/>
            <a:ext cx="1297472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05898" y="1779063"/>
            <a:ext cx="9428938" cy="66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10" indent="-340005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RAG? It retrieves relevant passages from a vector database, then the LLM generates an answer using that context. </a:t>
            </a:r>
          </a:p>
          <a:p>
            <a:pPr algn="l">
              <a:lnSpc>
                <a:spcPts val="4409"/>
              </a:lnSpc>
            </a:pPr>
          </a:p>
          <a:p>
            <a:pPr algn="l" marL="680010" indent="-340005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it matters: user experience depends on TTFT, which includes retrieval latency + prefill. </a:t>
            </a:r>
          </a:p>
          <a:p>
            <a:pPr algn="l">
              <a:lnSpc>
                <a:spcPts val="4409"/>
              </a:lnSpc>
            </a:pPr>
          </a:p>
          <a:p>
            <a:pPr algn="l" marL="680010" indent="-340005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work’s focus: accelerate the retrieval stage (the memory bottleneck).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022417" cy="10287000"/>
          </a:xfrm>
          <a:custGeom>
            <a:avLst/>
            <a:gdLst/>
            <a:ahLst/>
            <a:cxnLst/>
            <a:rect r="r" b="b" t="t" l="l"/>
            <a:pathLst>
              <a:path h="10287000" w="5022417">
                <a:moveTo>
                  <a:pt x="0" y="0"/>
                </a:moveTo>
                <a:lnTo>
                  <a:pt x="5022417" y="0"/>
                </a:lnTo>
                <a:lnTo>
                  <a:pt x="50224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499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3279" y="128588"/>
            <a:ext cx="1297472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795" y="550069"/>
            <a:ext cx="1297472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and Motivation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3795" y="2172656"/>
            <a:ext cx="13121581" cy="753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RAG retrieval is the bottleneck: for each user query, the system must score a large embedding database to fetch the top-K relevant passages.</a:t>
            </a:r>
          </a:p>
          <a:p>
            <a:pPr algn="l">
              <a:lnSpc>
                <a:spcPts val="3312"/>
              </a:lnSpc>
            </a:pPr>
          </a:p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bandwidth d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ominates: similarity search needs many embedding reads, so performance is limited by data movement more than compute.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o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ptions have drawbacks:</a:t>
            </a:r>
          </a:p>
          <a:p>
            <a:pPr algn="l" marL="1021695" indent="-340565" lvl="2">
              <a:lnSpc>
                <a:spcPts val="3312"/>
              </a:lnSpc>
              <a:buFont typeface="Arial"/>
              <a:buChar char="⚬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 methods speed up search but can reduce recall/quality and may add unpredictable behavior.</a:t>
            </a:r>
          </a:p>
          <a:p>
            <a:pPr algn="l" marL="1021695" indent="-340565" lvl="2">
              <a:lnSpc>
                <a:spcPts val="3312"/>
              </a:lnSpc>
              <a:buFont typeface="Arial"/>
              <a:buChar char="⚬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GPU acceleration can help compute, but PCIe transfers + limited GPU memory + power cost are major constraints.</a:t>
            </a:r>
          </a:p>
          <a:p>
            <a:pPr algn="l">
              <a:lnSpc>
                <a:spcPts val="3312"/>
              </a:lnSpc>
            </a:pPr>
          </a:p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Motivat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ion: we need a retrieval engine that is fast, energy-efficient, and scalable to large corpora—without sacrificing too much retrieval quality.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Goal: Sub-millisecond top-K retrieval for RAG by reducing data movement (compression) and moving compute near memory.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795" y="2401775"/>
            <a:ext cx="10924157" cy="543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Near-memory retrieval architecture: a specialized design for RAG retrieval using a host interface + many Near-Memory Processing Units (NMPUs) + a hardware Top-K aggregati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 unit. 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Quality–performance co-design via quantized retrieval: PCA-based compres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sion (384D → 128D) wi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 int8 vec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tors to reduce bandwidth/data movement while keeping usable recall. </a:t>
            </a:r>
          </a:p>
          <a:p>
            <a:pPr algn="l">
              <a:lnSpc>
                <a:spcPts val="3312"/>
              </a:lnSpc>
            </a:pPr>
          </a:p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orous evaluat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 methodology: a cycle-accurate performance model that includes realistic bandwidth efficiency, synchronizat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ion, and system overheads, plus comparison vs CPU/GPU/ANN baselines. 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507932" y="0"/>
            <a:ext cx="6780068" cy="10287000"/>
          </a:xfrm>
          <a:custGeom>
            <a:avLst/>
            <a:gdLst/>
            <a:ahLst/>
            <a:cxnLst/>
            <a:rect r="r" b="b" t="t" l="l"/>
            <a:pathLst>
              <a:path h="10287000" w="6780068">
                <a:moveTo>
                  <a:pt x="0" y="0"/>
                </a:moveTo>
                <a:lnTo>
                  <a:pt x="6780068" y="0"/>
                </a:lnTo>
                <a:lnTo>
                  <a:pt x="67800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795" y="550069"/>
            <a:ext cx="12974721" cy="177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Contributions</a:t>
            </a:r>
          </a:p>
          <a:p>
            <a:pPr algn="l">
              <a:lnSpc>
                <a:spcPts val="693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795" y="550069"/>
            <a:ext cx="15105556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Related Work Summary and Literature Gap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3795" y="2037721"/>
            <a:ext cx="14875080" cy="501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ANN/ANNS retrieval (HNSW, IVF-PQ): improves speed, but can degrade recall and causes irregular memory access / unpredictable latency (pointer chasing).</a:t>
            </a:r>
          </a:p>
          <a:p>
            <a:pPr algn="l">
              <a:lnSpc>
                <a:spcPts val="3312"/>
              </a:lnSpc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GPU retrieval (e.g., FAISS-GPU): parallelizes dot products, but faces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PCIe transfer overhead, limited GPU memory (caps corpus size), and high power (80–300W). 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Generation-side compres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sion (REFRAG / c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hunk c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ompression): reduces LLM prefill/TTFT, but does not reduce retrieval latency (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retrieval must f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inish first).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gap: existing solutions do not eliminate the fundamental memory-bandwidth bottleneck of exact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vector search for retrieval at scale.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3795" y="7230255"/>
            <a:ext cx="15779830" cy="74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993"/>
              </a:lnSpc>
              <a:buFont typeface="Arial"/>
              <a:buChar char="•"/>
            </a:pPr>
            <a:r>
              <a:rPr lang="en-US" b="true" sz="24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NM-RAG fills this gap by m</a:t>
            </a:r>
            <a:r>
              <a:rPr lang="en-US" b="true" sz="24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oving similarity compute near memory and reducing data movement via 128D int8 quantization.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4797" y="1774600"/>
            <a:ext cx="11081203" cy="6607168"/>
          </a:xfrm>
          <a:custGeom>
            <a:avLst/>
            <a:gdLst/>
            <a:ahLst/>
            <a:cxnLst/>
            <a:rect r="r" b="b" t="t" l="l"/>
            <a:pathLst>
              <a:path h="6607168" w="11081203">
                <a:moveTo>
                  <a:pt x="0" y="0"/>
                </a:moveTo>
                <a:lnTo>
                  <a:pt x="11081203" y="0"/>
                </a:lnTo>
                <a:lnTo>
                  <a:pt x="11081203" y="6607167"/>
                </a:lnTo>
                <a:lnTo>
                  <a:pt x="0" y="660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297472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295" y="1726975"/>
            <a:ext cx="6817861" cy="669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Goal: accelerate RAG retrieval by moving similarity search near memory and minimizing data movement. </a:t>
            </a:r>
          </a:p>
          <a:p>
            <a:pPr algn="l">
              <a:lnSpc>
                <a:spcPts val="3312"/>
              </a:lnSpc>
            </a:pPr>
          </a:p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Host Interface (CXL 2.0): cache-coherent access + command submission from CPU. </a:t>
            </a:r>
          </a:p>
          <a:p>
            <a:pPr algn="l">
              <a:lnSpc>
                <a:spcPts val="3312"/>
              </a:lnSpc>
            </a:pPr>
          </a:p>
          <a:p>
            <a:pPr algn="l" marL="510847" indent="-255424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64 Near-Memory Processing Units (NMPUs): parallel compute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units colocated 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 HBM3. </a:t>
            </a:r>
          </a:p>
          <a:p>
            <a:pPr algn="l">
              <a:lnSpc>
                <a:spcPts val="3312"/>
              </a:lnSpc>
            </a:pPr>
          </a:p>
          <a:p>
            <a:pPr algn="l" marL="510847" indent="-255424" lvl="1">
              <a:lnSpc>
                <a:spcPts val="3312"/>
              </a:lnSpc>
              <a:buFont typeface="Arial"/>
              <a:buChar char="•"/>
            </a:pP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T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op-K Select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 Unit: merges local top-K lists into final</a:t>
            </a:r>
            <a:r>
              <a:rPr lang="en-US" b="true" sz="2366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results efficiently.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63347" y="8520714"/>
            <a:ext cx="7894797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NM-RAG architecture (CXL 2.0 h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ost interface, 64 NMPUs + HBM3, hardware Top-K).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96320" y="1926752"/>
            <a:ext cx="10393645" cy="7756258"/>
          </a:xfrm>
          <a:custGeom>
            <a:avLst/>
            <a:gdLst/>
            <a:ahLst/>
            <a:cxnLst/>
            <a:rect r="r" b="b" t="t" l="l"/>
            <a:pathLst>
              <a:path h="7756258" w="10393645">
                <a:moveTo>
                  <a:pt x="0" y="0"/>
                </a:moveTo>
                <a:lnTo>
                  <a:pt x="10393645" y="0"/>
                </a:lnTo>
                <a:lnTo>
                  <a:pt x="10393645" y="7756258"/>
                </a:lnTo>
                <a:lnTo>
                  <a:pt x="0" y="775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Hardware Design (NMPU + Memory Subsystem)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295" y="1879127"/>
            <a:ext cx="7553025" cy="648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932" indent="-282966" lvl="1">
              <a:lnSpc>
                <a:spcPts val="3669"/>
              </a:lnSpc>
              <a:buFont typeface="Arial"/>
              <a:buChar char="•"/>
            </a:pPr>
            <a:r>
              <a:rPr lang="en-US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NMPU core: 256-bit SIMD for 8-bit dot products (32 elements/cycle) + 64KB scratchpad + controller to a dedicated HBM bank. </a:t>
            </a:r>
          </a:p>
          <a:p>
            <a:pPr algn="l">
              <a:lnSpc>
                <a:spcPts val="3669"/>
              </a:lnSpc>
            </a:pPr>
          </a:p>
          <a:p>
            <a:pPr algn="l" marL="565932" indent="-282966" lvl="1">
              <a:lnSpc>
                <a:spcPts val="3669"/>
              </a:lnSpc>
              <a:spcBef>
                <a:spcPct val="0"/>
              </a:spcBef>
              <a:buFont typeface="Arial"/>
              <a:buChar char="•"/>
            </a:pPr>
            <a:r>
              <a:rPr lang="en-US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Dot-product efficiency: 128-D vector dot product completes</a:t>
            </a:r>
            <a:r>
              <a:rPr lang="en-US" b="true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 4 cycles </a:t>
            </a:r>
            <a:r>
              <a:rPr lang="en-US" b="true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</a:t>
            </a:r>
            <a:r>
              <a:rPr lang="en-US" b="true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 this SIMD width. </a:t>
            </a:r>
          </a:p>
          <a:p>
            <a:pPr algn="l">
              <a:lnSpc>
                <a:spcPts val="3669"/>
              </a:lnSpc>
              <a:spcBef>
                <a:spcPct val="0"/>
              </a:spcBef>
            </a:pPr>
          </a:p>
          <a:p>
            <a:pPr algn="l" marL="565932" indent="-282966" lvl="1">
              <a:lnSpc>
                <a:spcPts val="3669"/>
              </a:lnSpc>
              <a:buFont typeface="Arial"/>
              <a:buChar char="•"/>
            </a:pPr>
            <a:r>
              <a:rPr lang="en-US" b="true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HBM3 design: 900 GB/s aggregate, 14 GB/s per NMPU, partitioned banks to avoid contention and enable</a:t>
            </a:r>
            <a:r>
              <a:rPr lang="en-US" b="true" sz="26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true parallelism.</a:t>
            </a:r>
          </a:p>
          <a:p>
            <a:pPr algn="l">
              <a:lnSpc>
                <a:spcPts val="366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696769" y="9815997"/>
            <a:ext cx="6933724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NMPU internals (SIMD vec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tor engine + 64KB buffer + local HBM access).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1766" y="1852403"/>
            <a:ext cx="10837723" cy="5391767"/>
          </a:xfrm>
          <a:custGeom>
            <a:avLst/>
            <a:gdLst/>
            <a:ahLst/>
            <a:cxnLst/>
            <a:rect r="r" b="b" t="t" l="l"/>
            <a:pathLst>
              <a:path h="5391767" w="10837723">
                <a:moveTo>
                  <a:pt x="0" y="0"/>
                </a:moveTo>
                <a:lnTo>
                  <a:pt x="10837723" y="0"/>
                </a:lnTo>
                <a:lnTo>
                  <a:pt x="10837723" y="5391767"/>
                </a:lnTo>
                <a:lnTo>
                  <a:pt x="0" y="5391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Algorithm + Query Flow (Quantization + Pipeline)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295" y="1879127"/>
            <a:ext cx="7248471" cy="598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(A) Vector Quantization Strategy (reduce bandwidth)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Apply PCA + whitening offline; compress embeddings 384D → 128D (3×). 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Quantize to int8 range [-127,127] and pack for memory efficiency (128 bytes/docume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nt vs 1536 bytes originally).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Chosen operating point: 128D balances quality and speed (75.6% recall)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vs more/less aggressive dims.</a:t>
            </a:r>
          </a:p>
          <a:p>
            <a:pPr algn="l">
              <a:lnSpc>
                <a:spcPts val="3389"/>
              </a:lnSpc>
            </a:pP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69625" y="7386567"/>
            <a:ext cx="5637252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Query proc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essing pipeline + per-stage latency breakdown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295" y="7180212"/>
            <a:ext cx="13973919" cy="29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(B) Query Processing Pipeline (how it runs)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Host: encode query → PCA quantize → submit via CXL. 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NMPUs: broadcast query → parallel do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 products → local top-K. 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Top-K unit: merge 64 local lists → return global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top-K results.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1363" y="3624833"/>
            <a:ext cx="10896637" cy="2185756"/>
          </a:xfrm>
          <a:custGeom>
            <a:avLst/>
            <a:gdLst/>
            <a:ahLst/>
            <a:cxnLst/>
            <a:rect r="r" b="b" t="t" l="l"/>
            <a:pathLst>
              <a:path h="2185756" w="10896637">
                <a:moveTo>
                  <a:pt x="0" y="0"/>
                </a:moveTo>
                <a:lnTo>
                  <a:pt x="10896637" y="0"/>
                </a:lnTo>
                <a:lnTo>
                  <a:pt x="10896637" y="2185756"/>
                </a:lnTo>
                <a:lnTo>
                  <a:pt x="0" y="218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177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Experimental Results</a:t>
            </a:r>
          </a:p>
          <a:p>
            <a:pPr algn="l">
              <a:lnSpc>
                <a:spcPts val="693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2892" y="2278924"/>
            <a:ext cx="7248471" cy="555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NM-RAG latency: 0.48 ms/query (CPU 7.00 ms, GPU 6.78 ms, ANN 1.59 ms)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Speedup: 14.6× vs CPU, 4.4× vs ANN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spcBef>
                <a:spcPct val="0"/>
              </a:spcBef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Energy/query: 0.0014 J → 125× lower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vs CPU, 380× vs GPU, 23× vs ANN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Quality: Recall@100 = 75.6% (ANN 29.8%),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MRR = 1.0, nDCG@100 = 80.99%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Throughput: 2,091 QPS (single-query)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6268147"/>
            <a:ext cx="6924913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TABLE: PERFORMANCE COMPARISON OF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 RAG ACCELERATION METHODS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37140" y="1819901"/>
            <a:ext cx="9587281" cy="5692448"/>
          </a:xfrm>
          <a:custGeom>
            <a:avLst/>
            <a:gdLst/>
            <a:ahLst/>
            <a:cxnLst/>
            <a:rect r="r" b="b" t="t" l="l"/>
            <a:pathLst>
              <a:path h="5692448" w="9587281">
                <a:moveTo>
                  <a:pt x="0" y="0"/>
                </a:moveTo>
                <a:lnTo>
                  <a:pt x="9587281" y="0"/>
                </a:lnTo>
                <a:lnTo>
                  <a:pt x="9587281" y="5692448"/>
                </a:lnTo>
                <a:lnTo>
                  <a:pt x="0" y="5692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9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Latency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3795" y="1772276"/>
            <a:ext cx="7248471" cy="770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0.48 ms average query latency (14.6× faster than CPU baseline)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CPU spends most time on memory access (fetching 150 MB for 100K docs)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drivers of s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peedup:</a:t>
            </a:r>
          </a:p>
          <a:p>
            <a:pPr algn="l" marL="1045504" indent="-348501" lvl="2">
              <a:lnSpc>
                <a:spcPts val="3389"/>
              </a:lnSpc>
              <a:buAutoNum type="alphaLcPeriod" startAt="1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HBM3 bandwidth (900 GB/s) vs DDR5 (~100 GB/s)</a:t>
            </a:r>
          </a:p>
          <a:p>
            <a:pPr algn="l" marL="1045504" indent="-348501" lvl="2">
              <a:lnSpc>
                <a:spcPts val="3389"/>
              </a:lnSpc>
              <a:buAutoNum type="alphaLcPeriod" startAt="1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64 NMPUs parallelism (partitioned processing)</a:t>
            </a:r>
          </a:p>
          <a:p>
            <a:pPr algn="l" marL="1045504" indent="-348501" lvl="2">
              <a:lnSpc>
                <a:spcPts val="3389"/>
              </a:lnSpc>
              <a:buAutoNum type="alphaLcPeriod" startAt="1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3× compression (384D→128D) reduce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 transfer to 12.5 MB and enables int8 SIMD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Note: 91% of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NM-RAG latency is modeled as system overhead → optimization headroom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751358" y="7699971"/>
            <a:ext cx="3144083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Retr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ieval Latency Comparison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0901" y="1819901"/>
            <a:ext cx="9587281" cy="5692448"/>
          </a:xfrm>
          <a:custGeom>
            <a:avLst/>
            <a:gdLst/>
            <a:ahLst/>
            <a:cxnLst/>
            <a:rect r="r" b="b" t="t" l="l"/>
            <a:pathLst>
              <a:path h="5692448" w="9587281">
                <a:moveTo>
                  <a:pt x="0" y="0"/>
                </a:moveTo>
                <a:lnTo>
                  <a:pt x="9587281" y="0"/>
                </a:lnTo>
                <a:lnTo>
                  <a:pt x="9587281" y="5692448"/>
                </a:lnTo>
                <a:lnTo>
                  <a:pt x="0" y="5692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9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Energy Efficiency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3795" y="1772276"/>
            <a:ext cx="7248471" cy="684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Energy/query = 0.0014 J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Energy reduction: 125× vs CPU, 380× vs GPU, 23× vs ANN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energy drops:</a:t>
            </a:r>
          </a:p>
          <a:p>
            <a:pPr algn="l">
              <a:lnSpc>
                <a:spcPts val="3389"/>
              </a:lnSpc>
            </a:pPr>
          </a:p>
          <a:p>
            <a:pPr algn="l" marL="1045504" indent="-348501" lvl="2">
              <a:lnSpc>
                <a:spcPts val="3389"/>
              </a:lnSpc>
              <a:buFont typeface="Arial"/>
              <a:buChar char="⚬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DRAM/PCIe transfers (onl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 internal 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HBM access, much lower pJ/bit)</a:t>
            </a:r>
          </a:p>
          <a:p>
            <a:pPr algn="l">
              <a:lnSpc>
                <a:spcPts val="3389"/>
              </a:lnSpc>
            </a:pPr>
          </a:p>
          <a:p>
            <a:pPr algn="l" marL="1045504" indent="-348501" lvl="2">
              <a:lnSpc>
                <a:spcPts val="3389"/>
              </a:lnSpc>
              <a:buFont typeface="Arial"/>
              <a:buChar char="⚬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Lower power envelope (3W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vs 25W CPU / 80W GPU)</a:t>
            </a:r>
          </a:p>
          <a:p>
            <a:pPr algn="l">
              <a:lnSpc>
                <a:spcPts val="3389"/>
              </a:lnSpc>
            </a:pPr>
          </a:p>
          <a:p>
            <a:pPr algn="l" marL="1045504" indent="-348501" lvl="2">
              <a:lnSpc>
                <a:spcPts val="3389"/>
              </a:lnSpc>
              <a:buFont typeface="Arial"/>
              <a:buChar char="⚬"/>
            </a:pP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orter execution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time (0.48 ms vs 7 ms)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480800" y="7675894"/>
            <a:ext cx="3492580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Energy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 Consumption Comparison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33450" y="1819901"/>
            <a:ext cx="9587281" cy="5692448"/>
          </a:xfrm>
          <a:custGeom>
            <a:avLst/>
            <a:gdLst/>
            <a:ahLst/>
            <a:cxnLst/>
            <a:rect r="r" b="b" t="t" l="l"/>
            <a:pathLst>
              <a:path h="5692448" w="9587281">
                <a:moveTo>
                  <a:pt x="0" y="0"/>
                </a:moveTo>
                <a:lnTo>
                  <a:pt x="9587281" y="0"/>
                </a:lnTo>
                <a:lnTo>
                  <a:pt x="9587281" y="5692448"/>
                </a:lnTo>
                <a:lnTo>
                  <a:pt x="0" y="5692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9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Retrieval Quality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3795" y="1772276"/>
            <a:ext cx="7248471" cy="684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Recall@100 = 75.6% (ANN 29.8%) → 2.5× better recall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MRR = 1.0 (m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ost relevant doc ranks first)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nDCG@100 = 80.99% (strong ranking qualit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y)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Important interpretation: quality loss vs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exact (100%) comes from PCA quantization, not hardware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Top-K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stability: Top-10 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recall ~99.8%; degradation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mainly in mid/low relevance results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011575" y="7796281"/>
            <a:ext cx="4431030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Retrieval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 Quality Comparison — Recall@100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33450" y="1931064"/>
            <a:ext cx="9587281" cy="5692448"/>
          </a:xfrm>
          <a:custGeom>
            <a:avLst/>
            <a:gdLst/>
            <a:ahLst/>
            <a:cxnLst/>
            <a:rect r="r" b="b" t="t" l="l"/>
            <a:pathLst>
              <a:path h="5692448" w="9587281">
                <a:moveTo>
                  <a:pt x="0" y="0"/>
                </a:moveTo>
                <a:lnTo>
                  <a:pt x="9587281" y="0"/>
                </a:lnTo>
                <a:lnTo>
                  <a:pt x="9587281" y="5692448"/>
                </a:lnTo>
                <a:lnTo>
                  <a:pt x="0" y="5692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95" y="550069"/>
            <a:ext cx="16584349" cy="9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Scalability + Throughput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3795" y="1772276"/>
            <a:ext cx="7248471" cy="684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Speedup increases with dataset size (memory bottleneck grows in CPU/GPU):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10K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docs: 8.2×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100K d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ocs: 14.6× (evaluated)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1M docs: 22.3× (projected)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10M docs: 35.7× (projected)</a:t>
            </a:r>
          </a:p>
          <a:p>
            <a:pPr algn="l">
              <a:lnSpc>
                <a:spcPts val="3389"/>
              </a:lnSpc>
            </a:pPr>
          </a:p>
          <a:p>
            <a:pPr algn="l">
              <a:lnSpc>
                <a:spcPts val="3389"/>
              </a:lnSpc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Throughput scaling vi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batching/pipelining: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 query: 0.48 ms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→ 2,091 QPS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4-query batch: 0.52 ms total → 7,692 QPS (3.7×)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-query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batch: 0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.68 ms tot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 → 23,529 QPS (11.2×)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908527" y="7868513"/>
            <a:ext cx="4637127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Speedup vs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 CPU Baseline across corpus sizes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7546" y="1422935"/>
            <a:ext cx="8268464" cy="4919736"/>
          </a:xfrm>
          <a:custGeom>
            <a:avLst/>
            <a:gdLst/>
            <a:ahLst/>
            <a:cxnLst/>
            <a:rect r="r" b="b" t="t" l="l"/>
            <a:pathLst>
              <a:path h="4919736" w="8268464">
                <a:moveTo>
                  <a:pt x="0" y="0"/>
                </a:moveTo>
                <a:lnTo>
                  <a:pt x="8268464" y="0"/>
                </a:lnTo>
                <a:lnTo>
                  <a:pt x="8268464" y="4919736"/>
                </a:lnTo>
                <a:lnTo>
                  <a:pt x="0" y="4919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7546" y="6906211"/>
            <a:ext cx="8555917" cy="2601936"/>
          </a:xfrm>
          <a:custGeom>
            <a:avLst/>
            <a:gdLst/>
            <a:ahLst/>
            <a:cxnLst/>
            <a:rect r="r" b="b" t="t" l="l"/>
            <a:pathLst>
              <a:path h="2601936" w="8555917">
                <a:moveTo>
                  <a:pt x="0" y="0"/>
                </a:moveTo>
                <a:lnTo>
                  <a:pt x="8555917" y="0"/>
                </a:lnTo>
                <a:lnTo>
                  <a:pt x="8555917" y="2601936"/>
                </a:lnTo>
                <a:lnTo>
                  <a:pt x="0" y="2601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795" y="559594"/>
            <a:ext cx="18919858" cy="86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Latency vs Quality Tradeoff + Credibility vs Prior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3795" y="1772276"/>
            <a:ext cx="8670205" cy="684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Tradeoff view: NM-RAG is much faster than exact CPU/GPU while keeping much higher quality than ANN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insight: hardwar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acceleration + moderate compression gives better balance th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 “approximate in full space”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Positioning vs published near-memory systems (Table II):</a:t>
            </a:r>
          </a:p>
          <a:p>
            <a:pPr algn="l">
              <a:lnSpc>
                <a:spcPts val="3389"/>
              </a:lnSpc>
            </a:pPr>
          </a:p>
          <a:p>
            <a:pPr algn="l" marL="1045504" indent="-348501" lvl="2">
              <a:lnSpc>
                <a:spcPts val="3389"/>
              </a:lnSpc>
              <a:buFont typeface="Arial"/>
              <a:buChar char="⚬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NM-RAG: 0.48 ms,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14.6×, (simulation)</a:t>
            </a:r>
          </a:p>
          <a:p>
            <a:pPr algn="l">
              <a:lnSpc>
                <a:spcPts val="3389"/>
              </a:lnSpc>
            </a:pPr>
          </a:p>
          <a:p>
            <a:pPr algn="l" marL="1045504" indent="-348501" lvl="2">
              <a:lnSpc>
                <a:spcPts val="3389"/>
              </a:lnSpc>
              <a:buFont typeface="Arial"/>
              <a:buChar char="⚬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IKS / MemANNS / NDSEARCH are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 the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same credible range but t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arget different points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708140" y="6496100"/>
            <a:ext cx="3927277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Fig: Latency vs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 Quality tradeoff scatter plot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8034" y="9660547"/>
            <a:ext cx="6194941" cy="23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  <a:spcBef>
                <a:spcPct val="0"/>
              </a:spcBef>
            </a:pP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TABLE: COMPARISON WITH PUBLISHED</a:t>
            </a:r>
            <a:r>
              <a:rPr lang="en-US" b="true" sz="1500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 NEAR-MEMORY SYSTEMS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CDC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105" y="766765"/>
            <a:ext cx="18919858" cy="9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true">
                <a:solidFill>
                  <a:srgbClr val="2E29A8"/>
                </a:solidFill>
                <a:latin typeface="Arimo Bold"/>
                <a:ea typeface="Arimo Bold"/>
                <a:cs typeface="Arimo Bold"/>
                <a:sym typeface="Arimo Bold"/>
              </a:rPr>
              <a:t>Conclusion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9034" y="2340563"/>
            <a:ext cx="15339649" cy="555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takeaway: NM-RAG shows that moving retrieval compute near memory and reducing data movement can deliver sub-millisecond retrieval with major energy savings.</a:t>
            </a:r>
          </a:p>
          <a:p>
            <a:pPr algn="l">
              <a:lnSpc>
                <a:spcPts val="3389"/>
              </a:lnSpc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Best design point: 128-D int8 (from 384-D) is the strong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 balance between speed/bandwidth reduction and retrieval quality. 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Limitations: retrieval quality is lower th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 exact search due to PCA/quantization, and the evaluation is based on a cycle-accurate simulation model (not a hardware prototype). </a:t>
            </a:r>
          </a:p>
          <a:p>
            <a:pPr algn="l">
              <a:lnSpc>
                <a:spcPts val="3389"/>
              </a:lnSpc>
            </a:pPr>
          </a:p>
          <a:p>
            <a:pPr algn="l" marL="522752" indent="-261376" lvl="1">
              <a:lnSpc>
                <a:spcPts val="3389"/>
              </a:lnSpc>
              <a:buFont typeface="Arial"/>
              <a:buChar char="•"/>
            </a:pP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work:</a:t>
            </a:r>
            <a:r>
              <a:rPr lang="en-US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reduce system overheads and validate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with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 production/prototype implementation, and explore hybrid strategies (e.g., multi-st</a:t>
            </a:r>
            <a:r>
              <a:rPr lang="en-US" b="true" sz="2421">
                <a:solidFill>
                  <a:srgbClr val="2E29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 retrieval or hybrid precision) to improve recall further.</a:t>
            </a:r>
          </a:p>
          <a:p>
            <a:pPr algn="l">
              <a:lnSpc>
                <a:spcPts val="33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DAG-yNoTHDI</dc:identifier>
  <dcterms:modified xsi:type="dcterms:W3CDTF">2011-08-01T06:04:30Z</dcterms:modified>
  <cp:revision>1</cp:revision>
  <dc:title>AA</dc:title>
</cp:coreProperties>
</file>